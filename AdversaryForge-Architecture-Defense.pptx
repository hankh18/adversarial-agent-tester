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6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an AI assistant for our clinicians. Today I'll show you the system we built to continuously attack it — safely, automatically, and in a way we can prove works. Not a one-time pen test. A machine that keeps hunting for weaknesses as the product changes. The standard I built to: something you'd trust with continuous testing of tools your physicians depend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problem with how AI security is usually done. Someone tests by hand, once; we fix a few issues, ship a new version, and never re-test. Attackers keep inventing new tricks; our list stays frozen. Over time we have less and less idea what's actually covered. That's the fear this platform is built to remove.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most important design choice: this is a team of specialists, not one all-purpose AI. If the same AI that invents an attack also decides whether it worked, it's grading its own homework — a conflict of interest by design. So we split it the way a real security org does. If they remember one slide, make it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whole team. The Orchestrator decides what to attack. The Red Team attacks. The Judge — completely separate — decides whether it worked. Confirmed problems go two places: the report-writer and a permanent test library the Harness re-runs forever. Everything is recorded in Observability, which is both our dashboard and the Orchestrator's memory. Note the human top-right: nothing serious publishes without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Red Team is our hired burglar. It doesn't replay a fixed list — it invents attacks, and when one almost works it generates variations to break through. It runs on Nous Hermes 4, a US-origin open-weight model built to refuse as little as possible, so we don't fight our own attacker; high-volume mutation uses the cheaper 70B, and DeepSeek-R1 is a CISO-gated escalation for the hardest cases. It's untrusted — sandboxed, read-only, output treated as data — and only ever sees synthetic data, so hosting it off-box doesn't touch PHI residency.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Judge is the referee, and everything about it keeps it honest. It's a different AI vendor from the attacker, so they don't share blind spots. It only sees the transcript — never the attacker saying 'trust me.' And the target gives us a machine-readable served/withheld flag, so most of the time the Judge just checks that flag; AI judgment is reserved for the fuzzy calls, and for serious findings a panel votes.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fair question: what if the referee drifts — starts calling everything a success? We catch it. Before every campaign the Judge grades a frozen set where we know the right answer, and we measure agreement. If it drops, the run stops immediately and alerts a human. An AI judge can agree with itself and still be wrong, so we calibrate against a gold baseline. A drifting judge fails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theme throughout: we use AI only where the job is genuinely open-ended — inventing attacks, or reading text to judge meaning. Everywhere else — deciding what to test, re-running tests, adding up cost — we use plain, auditable code, because a security test must give the same answer every time. Every AI step is followed by a deterministic check, a human, or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Autonomy has limits, drawn on purpose. Routine work runs on its own. Three things always ask a human: publishing a serious finding, because a confident false alarm wastes your team; pointing the tool at a new system, so it can't be turned against something it shouldn't touch; and writing to the clinical record — that's designed out entirely. When the Judge is unsure, it escalates.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team, drawn by trust zone. The attacker lives in the untrusted zone and can only read from the target — no write access, no access to our findings database. The Judge and writer are semi-trusted — they decide and describe but can't act on the target. Only the trusted core writes findings. Every arrow crossing a boundary is a checkpoint where we validate, never assume. A compromised attacker has nowhere to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build anything instead of buying? We looked hard. Three-layer split: for the ordinary web and code surface we configure proven scanners and drive them automatically; for the AI-attack layer we build on two vendor-backed open-source frameworks, garak and PyRIT, so we inherit their attack libraries; and we build from scratch only the part nobody sells — coordination, the independent judge, and regression memory. We didn't buy a SaaS red-team product because none publishes a healthcare BAA or self-host option, so patient data would leave our walls.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I'll leave you with the standard we built to. The goal was never the flashiest jailbreak in a demo. It was a system you could put in front of the person responsible for the safety of tools your doctors use every day — and have them say yes. Independent judgment, bounded autonomy, honest about its limits, provable every step. Thank you —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40112" y="1536192"/>
            <a:ext cx="1234440" cy="123444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95560" y="1737360"/>
            <a:ext cx="91440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mbria"/>
              </a:rPr>
              <a:t>AF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058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FBDB6"/>
                </a:solidFill>
                <a:latin typeface="Calibri"/>
              </a:rPr>
              <a:t>ARCHITECTURE DEFENSE  · 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91440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Cambria"/>
              </a:rPr>
              <a:t>AdversaryForge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96012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5FBDB6"/>
                </a:solidFill>
                <a:latin typeface="Cambria"/>
              </a:rPr>
              <a:t>An autonomous multi-agent red team for clinical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84124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7D3D6"/>
                </a:solidFill>
                <a:latin typeface="Calibri"/>
              </a:rPr>
              <a:t>Continuously hunts, judges, and documents vulnerabilities in the AgentForge Clinical Co-Pilot — with an independent judge, bounded autonomy, and proof at every step.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92040"/>
            <a:ext cx="1417320" cy="566928"/>
          </a:xfrm>
          <a:prstGeom prst="roundRect">
            <a:avLst>
              <a:gd name="adj" fmla="val 14000"/>
            </a:avLst>
          </a:prstGeom>
          <a:solidFill>
            <a:srgbClr val="16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892040"/>
            <a:ext cx="14173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FBDB6"/>
                </a:solidFill>
                <a:latin typeface="Calibri"/>
              </a:rPr>
              <a:t>Attack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152" y="4892040"/>
            <a:ext cx="2331720" cy="566928"/>
          </a:xfrm>
          <a:prstGeom prst="roundRect">
            <a:avLst>
              <a:gd name="adj" fmla="val 14000"/>
            </a:avLst>
          </a:prstGeom>
          <a:solidFill>
            <a:srgbClr val="16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9152" y="4892040"/>
            <a:ext cx="23317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FBDB6"/>
                </a:solidFill>
                <a:latin typeface="Calibri"/>
              </a:rPr>
              <a:t>Judge independently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46904" y="4892040"/>
            <a:ext cx="1874519" cy="566928"/>
          </a:xfrm>
          <a:prstGeom prst="roundRect">
            <a:avLst>
              <a:gd name="adj" fmla="val 14000"/>
            </a:avLst>
          </a:prstGeom>
          <a:solidFill>
            <a:srgbClr val="16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46904" y="4892040"/>
            <a:ext cx="1874519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FBDB6"/>
                </a:solidFill>
                <a:latin typeface="Calibri"/>
              </a:rPr>
              <a:t>Regress forever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8229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Hank Holcomb  ·  July 2026  ·  target: agentforge.hankholcomb.com (authorized, synthetic 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7B"/>
                </a:solidFill>
                <a:latin typeface="Calibri"/>
              </a:rPr>
              <a:t>THE PROBLEM  ·  WHY WE'RE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E293B"/>
                </a:solidFill>
                <a:latin typeface="Cambria"/>
              </a:rPr>
              <a:t>A one-time test goes stale the moment the product 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91672" cy="1143000"/>
          </a:xfrm>
          <a:prstGeom prst="roundRect">
            <a:avLst>
              <a:gd name="adj" fmla="val 5000"/>
            </a:avLst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38528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1783080"/>
            <a:ext cx="9509760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Cambria"/>
              </a:rPr>
              <a:t>Fixes get validated once — and never re-tested against the next version or a mutated variant.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27248"/>
            <a:ext cx="535381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328416"/>
            <a:ext cx="48417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TODAY'S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675887"/>
            <a:ext cx="484174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A person tries some attacks by hand, once.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We fix a few, then ship a new version — and never re-test the old attacks.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Attackers keep inventing; our test list stays frozen.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0" y="3127248"/>
            <a:ext cx="535381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2532" y="3328416"/>
            <a:ext cx="48417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WHAT THAT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2532" y="3675887"/>
            <a:ext cx="484174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Less and less visibility into what's actually covered.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Regressions slip back in unnoticed.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“We don't know what we don't know.”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38928"/>
            <a:ext cx="11091672" cy="932688"/>
          </a:xfrm>
          <a:prstGeom prst="roundRect">
            <a:avLst>
              <a:gd name="adj" fmla="val 5000"/>
            </a:avLst>
          </a:prstGeom>
          <a:solidFill>
            <a:srgbClr val="0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" y="5276088"/>
            <a:ext cx="658368" cy="658368"/>
          </a:xfrm>
          <a:prstGeom prst="roundRect">
            <a:avLst>
              <a:gd name="adj" fmla="val 14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5138928"/>
            <a:ext cx="9601200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The fix: replace the frozen checklist with a system that learns and re-tests continuously.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8595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7B"/>
                </a:solidFill>
                <a:latin typeface="Courier New"/>
              </a:rPr>
              <a:t>  the frozen-checklist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55664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test once ≠ tested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7B"/>
                </a:solidFill>
                <a:latin typeface="Calibri"/>
              </a:rPr>
              <a:t>CORE DESIGN  ·  SEPARATION OF DUTIES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E293B"/>
                </a:solidFill>
                <a:latin typeface="Cambria"/>
              </a:rPr>
              <a:t>One AI doing everything grades its own homework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91672" cy="1143000"/>
          </a:xfrm>
          <a:prstGeom prst="roundRect">
            <a:avLst>
              <a:gd name="adj" fmla="val 5000"/>
            </a:avLst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38528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1783080"/>
            <a:ext cx="9509760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Cambria"/>
              </a:rPr>
              <a:t>If the AI that invents an attack also decides whether it worked, that's a conflict of interest by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27248"/>
            <a:ext cx="535381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328416"/>
            <a:ext cx="48417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THE RULE WE BORROWED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675887"/>
            <a:ext cx="484174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Split the work the way a real security org does: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an attacker, an independent referee, a strategist, and a report-writer.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Each has its own job, permissions, and trust level.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0" y="3127248"/>
            <a:ext cx="535381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2532" y="3328416"/>
            <a:ext cx="48417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WHY A CISO TRUSTS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2532" y="3675887"/>
            <a:ext cx="484174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Separation of duties is a bedrock security principle you already rely on everywhere else.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The assignment also forbids a single-agent design and requires the judge to be independent.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38928"/>
            <a:ext cx="11091672" cy="932688"/>
          </a:xfrm>
          <a:prstGeom prst="roundRect">
            <a:avLst>
              <a:gd name="adj" fmla="val 5000"/>
            </a:avLst>
          </a:prstGeom>
          <a:solidFill>
            <a:srgbClr val="0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" y="5276088"/>
            <a:ext cx="658368" cy="658368"/>
          </a:xfrm>
          <a:prstGeom prst="roundRect">
            <a:avLst>
              <a:gd name="adj" fmla="val 14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5138928"/>
            <a:ext cx="9601200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Multi-agent by design — with a hard wall between attacking and judging.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8595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7B"/>
                </a:solidFill>
                <a:latin typeface="Courier New"/>
              </a:rPr>
              <a:t>  attacker ≠ judge  ·  a first principle of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55664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separation of duties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7B"/>
                </a:solidFill>
                <a:latin typeface="Calibri"/>
              </a:rPr>
              <a:t>THE TEAM  · 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E293B"/>
                </a:solidFill>
                <a:latin typeface="Cambria"/>
              </a:rPr>
              <a:t>Four AI specialists + two automated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31720"/>
            <a:ext cx="1965960" cy="8686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96596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Orchestrator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picks the next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2331720"/>
            <a:ext cx="1965960" cy="86868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2331720"/>
            <a:ext cx="196596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Red Team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invents + mutates attacks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3657600"/>
            <a:ext cx="1965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3657600"/>
            <a:ext cx="196596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E293B"/>
                </a:solidFill>
                <a:latin typeface="Calibri"/>
              </a:rPr>
              <a:t>Target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E293B"/>
                </a:solidFill>
                <a:latin typeface="Calibri"/>
              </a:rPr>
              <a:t>Clinical Co-Pilot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331720"/>
            <a:ext cx="2240280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331720"/>
            <a:ext cx="224028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Judge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independent referee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2331720"/>
            <a:ext cx="1965960" cy="8686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2331720"/>
            <a:ext cx="196596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Documentation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writes the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657600"/>
            <a:ext cx="1965960" cy="8686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657600"/>
            <a:ext cx="196596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Harness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re-tests forever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20" y="2331720"/>
            <a:ext cx="1280160" cy="868680"/>
          </a:xfrm>
          <a:prstGeom prst="roundRect">
            <a:avLst>
              <a:gd name="adj" fmla="val 8000"/>
            </a:avLst>
          </a:prstGeom>
          <a:solidFill>
            <a:srgbClr val="16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0" y="2331720"/>
            <a:ext cx="128016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Human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approves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00600"/>
            <a:ext cx="10972800" cy="457200"/>
          </a:xfrm>
          <a:prstGeom prst="roundRect">
            <a:avLst>
              <a:gd name="adj" fmla="val 8000"/>
            </a:avLst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Calibri"/>
              </a:rPr>
              <a:t>Observability — the shared memory + dashboard (every result, cost, coverage) the Orchestrator reads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06040" y="2761488"/>
            <a:ext cx="45720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41648" y="3200400"/>
            <a:ext cx="0" cy="457200"/>
          </a:xfrm>
          <a:prstGeom prst="line">
            <a:avLst/>
          </a:prstGeom>
          <a:ln w="19050">
            <a:solidFill>
              <a:srgbClr val="E76F5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224528" y="3200400"/>
            <a:ext cx="0" cy="45720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0" y="2761488"/>
            <a:ext cx="457200" cy="0"/>
          </a:xfrm>
          <a:prstGeom prst="line">
            <a:avLst/>
          </a:prstGeom>
          <a:ln w="19050">
            <a:solidFill>
              <a:srgbClr val="E76F5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26679" y="2761488"/>
            <a:ext cx="45720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583680" y="3200400"/>
            <a:ext cx="1600199" cy="64008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104120" y="2761488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8595360" y="3200400"/>
            <a:ext cx="548640" cy="45720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892040" y="2011680"/>
            <a:ext cx="1280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transcript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246120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Calibri"/>
              </a:rPr>
              <a:t>attack / reply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38928"/>
            <a:ext cx="11091672" cy="932688"/>
          </a:xfrm>
          <a:prstGeom prst="roundRect">
            <a:avLst>
              <a:gd name="adj" fmla="val 5000"/>
            </a:avLst>
          </a:prstGeom>
          <a:solidFill>
            <a:srgbClr val="0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77824" y="5276088"/>
            <a:ext cx="658368" cy="658368"/>
          </a:xfrm>
          <a:prstGeom prst="roundRect">
            <a:avLst>
              <a:gd name="adj" fmla="val 14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83080" y="5138928"/>
            <a:ext cx="9601200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Confirmed problems go two ways: into a report, and into a test library the Harness re-runs forever.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55664"/>
            <a:ext cx="8595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7B"/>
                </a:solidFill>
                <a:latin typeface="Courier New"/>
              </a:rPr>
              <a:t>  Orchestrator · Red Team · Judge · Documentation + Harness + Observability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88552" y="6455664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specialists, not a soloist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7B"/>
                </a:solidFill>
                <a:latin typeface="Calibri"/>
              </a:rPr>
              <a:t>AGENT  ·  THE ATTACKER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E293B"/>
                </a:solidFill>
                <a:latin typeface="Cambria"/>
              </a:rPr>
              <a:t>Invents attacks — on a US-origin AI built not to refuse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91672" cy="1143000"/>
          </a:xfrm>
          <a:prstGeom prst="roundRect">
            <a:avLst>
              <a:gd name="adj" fmla="val 5000"/>
            </a:avLst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38528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1783080"/>
            <a:ext cx="9509760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Cambria"/>
              </a:rPr>
              <a:t>When an attack almost works, it auto-generates variants to find the one that breaks through.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27248"/>
            <a:ext cx="535381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328416"/>
            <a:ext cx="48417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WHY A HOSTED LOW-REFUSAL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675887"/>
            <a:ext cx="484174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Commercial AIs over-refuse security work (CyberSecEval 2); Hermes 4 is purpose-built low-refusal.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US-origin (Nous Research, Meta-Llama) — clean provenance for a hospital CISO.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Hosted 405B is a far stronger attacker than a laptop fits — still ~pennies/turn.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0" y="3127248"/>
            <a:ext cx="535381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2532" y="3328416"/>
            <a:ext cx="48417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KEPT ON A SHORT LEASH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2532" y="3675887"/>
            <a:ext cx="484174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Untrusted: sandboxed, read/interact-only, no write access; sees synthetic data only.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Its output is data our system never obeys as instructions.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38928"/>
            <a:ext cx="11091672" cy="932688"/>
          </a:xfrm>
          <a:prstGeom prst="roundRect">
            <a:avLst>
              <a:gd name="adj" fmla="val 5000"/>
            </a:avLst>
          </a:prstGeom>
          <a:solidFill>
            <a:srgbClr val="0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" y="5276088"/>
            <a:ext cx="658368" cy="658368"/>
          </a:xfrm>
          <a:prstGeom prst="roundRect">
            <a:avLst>
              <a:gd name="adj" fmla="val 14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5138928"/>
            <a:ext cx="9601200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Nous Hermes 4 (405B) via OpenRouter — won't refuse, US-origin, ~pennies/turn; local kept only as a $0 dev path.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8595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7B"/>
                </a:solidFill>
                <a:latin typeface="Courier New"/>
              </a:rPr>
              <a:t>  Hermes 4 405B via OpenRouter · 70B for volume · DeepSeek-R1 gated · sandboxed · no write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55664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won't refuse · US-origin · ~pennies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7B"/>
                </a:solidFill>
                <a:latin typeface="Calibri"/>
              </a:rPr>
              <a:t>AGENT  ·  THE INDEPENDENT REFEREE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E293B"/>
                </a:solidFill>
                <a:latin typeface="Cambria"/>
              </a:rPr>
              <a:t>The Judge is deliberately not on the attacker's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91672" cy="1143000"/>
          </a:xfrm>
          <a:prstGeom prst="roundRect">
            <a:avLst>
              <a:gd name="adj" fmla="val 5000"/>
            </a:avLst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38528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1783080"/>
            <a:ext cx="9509760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Cambria"/>
              </a:rPr>
              <a:t>Different AI vendor from the attacker; sees only the transcript, never the attacker's claim of success.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27248"/>
            <a:ext cx="344119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328416"/>
            <a:ext cx="29291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DIFFERENT FAMILY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675887"/>
            <a:ext cx="292912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A different AI vendor than the attacker, so they don't share blind spots.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3880" y="3127248"/>
            <a:ext cx="344119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9912" y="3328416"/>
            <a:ext cx="29291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INFORMATION BARRIER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9912" y="3675887"/>
            <a:ext cx="292912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Sees the raw conversation only — never “trust me, this worked.”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9120" y="3127248"/>
            <a:ext cx="344119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5152" y="3328416"/>
            <a:ext cx="29291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MOSTLY DETERMINISTIC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5152" y="3675887"/>
            <a:ext cx="292912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The target publishes a served/withheld flag, so most calls are a simple check — AI only for gray areas.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38928"/>
            <a:ext cx="11091672" cy="932688"/>
          </a:xfrm>
          <a:prstGeom prst="roundRect">
            <a:avLst>
              <a:gd name="adj" fmla="val 5000"/>
            </a:avLst>
          </a:prstGeom>
          <a:solidFill>
            <a:srgbClr val="0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" y="5276088"/>
            <a:ext cx="658368" cy="658368"/>
          </a:xfrm>
          <a:prstGeom prst="roundRect">
            <a:avLst>
              <a:gd name="adj" fmla="val 14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5138928"/>
            <a:ext cx="9601200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Independence is structural — different agent, different vendor, information barrier — not a promise.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595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7B"/>
                </a:solidFill>
                <a:latin typeface="Courier New"/>
              </a:rPr>
              <a:t>  Claude Judge · different family from attacker · deterministic-first · panel on high-severity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6455664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independent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7B"/>
                </a:solidFill>
                <a:latin typeface="Calibri"/>
              </a:rPr>
              <a:t>AGENT  ·  TESTING THE TESTER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E293B"/>
                </a:solidFill>
                <a:latin typeface="Cambria"/>
              </a:rPr>
              <a:t>We test the referee — every run, against an answer 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91672" cy="1143000"/>
          </a:xfrm>
          <a:prstGeom prst="roundRect">
            <a:avLst>
              <a:gd name="adj" fmla="val 5000"/>
            </a:avLst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38528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1783080"/>
            <a:ext cx="9509760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Cambria"/>
              </a:rPr>
              <a:t>Before each campaign the Judge grades known examples; if agreement drops, the run stops and alerts a human.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27248"/>
            <a:ext cx="535381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328416"/>
            <a:ext cx="48417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HOW DRIFT IS CAUGHT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675887"/>
            <a:ext cx="484174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Judge scores a frozen gold set where we already know the answer.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Agreement is measured with a standard statistic (Cohen's κ).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Below threshold → the run halts fail-closed.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0" y="3127248"/>
            <a:ext cx="535381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2532" y="3328416"/>
            <a:ext cx="48417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2532" y="3675887"/>
            <a:ext cx="484174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An AI judge can agree with itself perfectly and still be wrong (one study: only r=0.59 vs humans).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So calibration against a human/gold baseline is mandatory, not optional.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38928"/>
            <a:ext cx="11091672" cy="932688"/>
          </a:xfrm>
          <a:prstGeom prst="roundRect">
            <a:avLst>
              <a:gd name="adj" fmla="val 5000"/>
            </a:avLst>
          </a:prstGeom>
          <a:solidFill>
            <a:srgbClr val="0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" y="5276088"/>
            <a:ext cx="658368" cy="658368"/>
          </a:xfrm>
          <a:prstGeom prst="roundRect">
            <a:avLst>
              <a:gd name="adj" fmla="val 14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5138928"/>
            <a:ext cx="9601200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A drifting judge can't quietly corrupt results — it fails safe and calls a human.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8595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7B"/>
                </a:solidFill>
                <a:latin typeface="Courier New"/>
              </a:rPr>
              <a:t>  gold set · Cohen's κ gate · fails closed · verdict-distribution 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55664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we test the tester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7B"/>
                </a:solidFill>
                <a:latin typeface="Calibri"/>
              </a:rPr>
              <a:t>DESIGN  ·  WHERE AI IS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E293B"/>
                </a:solidFill>
                <a:latin typeface="Cambria"/>
              </a:rPr>
              <a:t>The AI proposes; plain code disposes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91672" cy="1143000"/>
          </a:xfrm>
          <a:prstGeom prst="roundRect">
            <a:avLst>
              <a:gd name="adj" fmla="val 5000"/>
            </a:avLst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38528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1783080"/>
            <a:ext cx="9509760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Cambria"/>
              </a:rPr>
              <a:t>AI only where the job is genuinely open-ended. Everywhere trust-critical, we use auditable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27248"/>
            <a:ext cx="535381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328416"/>
            <a:ext cx="48417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WE USE AI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675887"/>
            <a:ext cx="484174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Inventing and mutating attacks.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Reading free text to judge meaning (did prose leak PHI?).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Writing the report narrative.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0" y="3127248"/>
            <a:ext cx="535381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2532" y="3328416"/>
            <a:ext cx="48417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WE USE PLAIN CODE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2532" y="3675887"/>
            <a:ext cx="484174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Deciding what to test, and re-running tests.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Detecting a withheld answer, coverage math, cost.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Every result a regression test depends 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38928"/>
            <a:ext cx="11091672" cy="932688"/>
          </a:xfrm>
          <a:prstGeom prst="roundRect">
            <a:avLst>
              <a:gd name="adj" fmla="val 5000"/>
            </a:avLst>
          </a:prstGeom>
          <a:solidFill>
            <a:srgbClr val="0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" y="5276088"/>
            <a:ext cx="658368" cy="658368"/>
          </a:xfrm>
          <a:prstGeom prst="roundRect">
            <a:avLst>
              <a:gd name="adj" fmla="val 14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5138928"/>
            <a:ext cx="9601200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Every AI decision is followed by a deterministic check, a human, or both.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8595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7B"/>
                </a:solidFill>
                <a:latin typeface="Courier New"/>
              </a:rPr>
              <a:t>  AI: attacks + prose judgment   ·   code: selection · replay · coverage ·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55664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AI proposes, code disposes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7B"/>
                </a:solidFill>
                <a:latin typeface="Calibri"/>
              </a:rPr>
              <a:t>TRUST &amp; SAFETY  ·  HUMAN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E293B"/>
                </a:solidFill>
                <a:latin typeface="Cambria"/>
              </a:rPr>
              <a:t>Autonomous — until the stakes get high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91672" cy="1143000"/>
          </a:xfrm>
          <a:prstGeom prst="roundRect">
            <a:avLst>
              <a:gd name="adj" fmla="val 5000"/>
            </a:avLst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38528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1783080"/>
            <a:ext cx="9509760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Cambria"/>
              </a:rPr>
              <a:t>The system runs on its own for routine work, and stops to ask a human exactly where a mistake is expensive.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27248"/>
            <a:ext cx="535381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328416"/>
            <a:ext cx="48417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STOP AND ASK A HUMAN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675887"/>
            <a:ext cx="484174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Publishing a critical/high finding (a false alarm wastes your team).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Pointing the tool at any new system (allow-list, logged).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0" y="3127248"/>
            <a:ext cx="535381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2532" y="3328416"/>
            <a:ext cx="484174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DESIGNED OUT ENTIRELY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2532" y="3675887"/>
            <a:ext cx="484174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Writing anything to the clinical record — not a permission we grant, it's excluded by design.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When the Judge is unsure, it escalates instead of guessing.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38928"/>
            <a:ext cx="11091672" cy="932688"/>
          </a:xfrm>
          <a:prstGeom prst="roundRect">
            <a:avLst>
              <a:gd name="adj" fmla="val 5000"/>
            </a:avLst>
          </a:prstGeom>
          <a:solidFill>
            <a:srgbClr val="0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" y="5276088"/>
            <a:ext cx="658368" cy="658368"/>
          </a:xfrm>
          <a:prstGeom prst="roundRect">
            <a:avLst>
              <a:gd name="adj" fmla="val 14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5138928"/>
            <a:ext cx="9601200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Autonomy with a brake: the blast radius is bounded, and a human owns the high-stakes calls.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8595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7B"/>
                </a:solidFill>
                <a:latin typeface="Courier New"/>
              </a:rPr>
              <a:t>  gates: publish-critical · re-target · target-writes = never · judge-unsure → human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6455664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autonomy with a brake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7B"/>
                </a:solidFill>
                <a:latin typeface="Calibri"/>
              </a:rPr>
              <a:t>TRUST &amp; SAFETY  · 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E293B"/>
                </a:solidFill>
                <a:latin typeface="Cambria"/>
              </a:rPr>
              <a:t>The attacker never holds the keys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615184" cy="2788920"/>
          </a:xfrm>
          <a:prstGeom prst="roundRect">
            <a:avLst>
              <a:gd name="adj" fmla="val 5000"/>
            </a:avLst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02536"/>
            <a:ext cx="2615184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76F51"/>
                </a:solidFill>
                <a:latin typeface="Calibri"/>
              </a:rPr>
              <a:t>UNTRUSTED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" y="2514600"/>
            <a:ext cx="2011679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514600"/>
            <a:ext cx="2011679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Calibri"/>
              </a:rPr>
              <a:t>Red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874519"/>
            <a:ext cx="2615184" cy="278892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2002536"/>
            <a:ext cx="2615184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Calibri"/>
              </a:rPr>
              <a:t>SEMI-TRUSTED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21607" y="2514600"/>
            <a:ext cx="2011679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7" y="2514600"/>
            <a:ext cx="2011679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Calibri"/>
              </a:rPr>
              <a:t>Judge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21607" y="3264408"/>
            <a:ext cx="2011679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7" y="3264408"/>
            <a:ext cx="2011679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Calibri"/>
              </a:rPr>
              <a:t>Documentation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1" y="1874519"/>
            <a:ext cx="2615184" cy="2788920"/>
          </a:xfrm>
          <a:prstGeom prst="roundRect">
            <a:avLst>
              <a:gd name="adj" fmla="val 5000"/>
            </a:avLst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1" y="2002536"/>
            <a:ext cx="2615184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E7C7B"/>
                </a:solidFill>
                <a:latin typeface="Calibri"/>
              </a:rPr>
              <a:t>TRUSTED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92823" y="2514600"/>
            <a:ext cx="2011679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3" y="2514600"/>
            <a:ext cx="2011679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Calibri"/>
              </a:rPr>
              <a:t>Orchestrator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92823" y="3264408"/>
            <a:ext cx="2011679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2823" y="3264408"/>
            <a:ext cx="2011679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Calibri"/>
              </a:rPr>
              <a:t>Harness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92823" y="4014215"/>
            <a:ext cx="2011679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3" y="4014215"/>
            <a:ext cx="2011679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Calibri"/>
              </a:rPr>
              <a:t>Exploit 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7" y="1874519"/>
            <a:ext cx="2615184" cy="2788920"/>
          </a:xfrm>
          <a:prstGeom prst="roundRect">
            <a:avLst>
              <a:gd name="adj" fmla="val 5000"/>
            </a:avLst>
          </a:prstGeom>
          <a:solidFill>
            <a:srgbClr val="0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7" y="2002536"/>
            <a:ext cx="2615184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HUMAN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39" y="2514600"/>
            <a:ext cx="2011679" cy="566928"/>
          </a:xfrm>
          <a:prstGeom prst="roundRect">
            <a:avLst>
              <a:gd name="adj" fmla="val 8000"/>
            </a:avLst>
          </a:prstGeom>
          <a:solidFill>
            <a:srgbClr val="16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39" y="2514600"/>
            <a:ext cx="2011679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Operator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63824" y="2788920"/>
            <a:ext cx="25603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35040" y="2788920"/>
            <a:ext cx="25603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906255" y="2788920"/>
            <a:ext cx="25603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26664" y="2898648"/>
            <a:ext cx="53035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>
                <a:solidFill>
                  <a:srgbClr val="64748B"/>
                </a:solidFill>
                <a:latin typeface="Calibri"/>
              </a:rPr>
              <a:t>transcript = data,</a:t>
            </a: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64748B"/>
                </a:solidFill>
                <a:latin typeface="Calibri"/>
              </a:rPr>
              <a:t>not commands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79" y="2898648"/>
            <a:ext cx="53035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>
                <a:solidFill>
                  <a:srgbClr val="64748B"/>
                </a:solidFill>
                <a:latin typeface="Calibri"/>
              </a:rPr>
              <a:t>advisory verdict,</a:t>
            </a: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64748B"/>
                </a:solidFill>
                <a:latin typeface="Calibri"/>
              </a:rPr>
              <a:t>cannot 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9095" y="2898648"/>
            <a:ext cx="53035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>
                <a:solidFill>
                  <a:srgbClr val="64748B"/>
                </a:solidFill>
                <a:latin typeface="Calibri"/>
              </a:rPr>
              <a:t>critical →</a:t>
            </a:r>
          </a:p>
          <a:p>
            <a:pPr algn="ctr">
              <a:lnSpc>
                <a:spcPct val="95000"/>
              </a:lnSpc>
            </a:pPr>
            <a:r>
              <a:rPr sz="750" b="0">
                <a:solidFill>
                  <a:srgbClr val="64748B"/>
                </a:solidFill>
                <a:latin typeface="Calibri"/>
              </a:rPr>
              <a:t>human gate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138928"/>
            <a:ext cx="11091672" cy="932688"/>
          </a:xfrm>
          <a:prstGeom prst="roundRect">
            <a:avLst>
              <a:gd name="adj" fmla="val 5000"/>
            </a:avLst>
          </a:prstGeom>
          <a:solidFill>
            <a:srgbClr val="0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77824" y="5276088"/>
            <a:ext cx="658368" cy="658368"/>
          </a:xfrm>
          <a:prstGeom prst="roundRect">
            <a:avLst>
              <a:gd name="adj" fmla="val 14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83080" y="5138928"/>
            <a:ext cx="9601200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Red Team is read/interact-only with no write scope; only the trusted core writes findings. A compromised attacker has nowhere to go.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8595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7B"/>
                </a:solidFill>
                <a:latin typeface="Courier New"/>
              </a:rPr>
              <a:t>  4 trust planes · credential isolation · every boundary crossing validated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2" y="6455664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the burglar has no keys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7C7B"/>
                </a:solidFill>
                <a:latin typeface="Calibri"/>
              </a:rPr>
              <a:t>BUILD VS. BUY  ·  MAKE-OR-BUY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E293B"/>
                </a:solidFill>
                <a:latin typeface="Cambria"/>
              </a:rPr>
              <a:t>We configured, borrowed, and only built the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91672" cy="1143000"/>
          </a:xfrm>
          <a:prstGeom prst="roundRect">
            <a:avLst>
              <a:gd name="adj" fmla="val 5000"/>
            </a:avLst>
          </a:prstGeom>
          <a:solidFill>
            <a:srgbClr val="EA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38528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1783080"/>
            <a:ext cx="9509760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Cambria"/>
              </a:rPr>
              <a:t>Three layers: configure proven scanners, build on open frameworks, build only what nobody sells.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27248"/>
            <a:ext cx="344119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328416"/>
            <a:ext cx="29291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CONFIGURE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675887"/>
            <a:ext cx="292912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Burp, ZAP, Semgrep for the ordinary web + code surface — driven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3880" y="3127248"/>
            <a:ext cx="344119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9912" y="3328416"/>
            <a:ext cx="29291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BUILD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9912" y="3675887"/>
            <a:ext cx="292912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NVIDIA garak + Microsoft PyRIT for the AI-attack layer — inherit their attack libraries.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9120" y="3127248"/>
            <a:ext cx="3441192" cy="1737360"/>
          </a:xfrm>
          <a:prstGeom prst="roundRect">
            <a:avLst>
              <a:gd name="adj" fmla="val 5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5152" y="3328416"/>
            <a:ext cx="29291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C7B"/>
                </a:solidFill>
                <a:latin typeface="Calibri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5152" y="3675887"/>
            <a:ext cx="2929128" cy="10058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The coordination, the independent Judge, and the regression memory nobody sells.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38928"/>
            <a:ext cx="11091672" cy="932688"/>
          </a:xfrm>
          <a:prstGeom prst="roundRect">
            <a:avLst>
              <a:gd name="adj" fmla="val 5000"/>
            </a:avLst>
          </a:prstGeom>
          <a:solidFill>
            <a:srgbClr val="0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" y="5276088"/>
            <a:ext cx="658368" cy="658368"/>
          </a:xfrm>
          <a:prstGeom prst="roundRect">
            <a:avLst>
              <a:gd name="adj" fmla="val 14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5138928"/>
            <a:ext cx="9601200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Not bought as SaaS: capable AI red-team clouds exist, but none publishes a healthcare BAA or self-host — so PHI would leave our walls.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595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E7C7B"/>
                </a:solidFill>
                <a:latin typeface="Courier New"/>
              </a:rPr>
              <a:t>  configure Burp/ZAP/Semgrep · build-on garak/PyRIT · build the coordination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6455664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configure · build-on · build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40112" y="1234440"/>
            <a:ext cx="1234440" cy="123444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95560" y="1435608"/>
            <a:ext cx="91440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mbria"/>
              </a:rPr>
              <a:t>AF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058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FBDB6"/>
                </a:solidFill>
                <a:latin typeface="Calibri"/>
              </a:rPr>
              <a:t>THE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10424160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Not the best demo jailbreak — the system you'd trust with your physicians'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102412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7D3D6"/>
                </a:solidFill>
                <a:latin typeface="Calibri"/>
              </a:rPr>
              <a:t>Independent judgment, bounded autonomy, honest about its limits, and provable at every 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34840"/>
            <a:ext cx="3538728" cy="1417320"/>
          </a:xfrm>
          <a:prstGeom prst="roundRect">
            <a:avLst>
              <a:gd name="adj" fmla="val 6000"/>
            </a:avLst>
          </a:prstGeom>
          <a:solidFill>
            <a:srgbClr val="16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4608576"/>
            <a:ext cx="658368" cy="658368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4208" y="4617720"/>
            <a:ext cx="2377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Attack continuously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5303520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D3D6"/>
                </a:solidFill>
                <a:latin typeface="Calibri"/>
              </a:rPr>
              <a:t>invents + mutates, never a frozen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4434840"/>
            <a:ext cx="3538728" cy="1417320"/>
          </a:xfrm>
          <a:prstGeom prst="roundRect">
            <a:avLst>
              <a:gd name="adj" fmla="val 6000"/>
            </a:avLst>
          </a:prstGeom>
          <a:solidFill>
            <a:srgbClr val="16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36007" y="4608576"/>
            <a:ext cx="658368" cy="658368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4104" y="4617720"/>
            <a:ext cx="2377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Judge independently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3" y="5303520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D3D6"/>
                </a:solidFill>
                <a:latin typeface="Calibri"/>
              </a:rPr>
              <a:t>different family, calibrated, fail-closed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4434840"/>
            <a:ext cx="3538728" cy="1417320"/>
          </a:xfrm>
          <a:prstGeom prst="roundRect">
            <a:avLst>
              <a:gd name="adj" fmla="val 6000"/>
            </a:avLst>
          </a:prstGeom>
          <a:solidFill>
            <a:srgbClr val="16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75903" y="4608576"/>
            <a:ext cx="658368" cy="658368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999" y="4617720"/>
            <a:ext cx="2377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Prove every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9" y="5303520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D3D6"/>
                </a:solidFill>
                <a:latin typeface="Calibri"/>
              </a:rPr>
              <a:t>frozen replay, regression forever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08076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FBDB6"/>
                </a:solidFill>
                <a:latin typeface="Cambria"/>
              </a:rPr>
              <a:t>Every finding comes with a receipt.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Co-Pilot — Week 2</dc:title>
  <dc:subject>PptxGenJS Presentation</dc:subject>
  <dc:creator>Hank Holcomb</dc:creator>
  <cp:lastModifiedBy>Hank Holcomb</cp:lastModifiedBy>
  <cp:revision>1</cp:revision>
  <dcterms:created xsi:type="dcterms:W3CDTF">2026-07-13T19:43:06Z</dcterms:created>
  <dcterms:modified xsi:type="dcterms:W3CDTF">2026-07-13T19:43:06Z</dcterms:modified>
</cp:coreProperties>
</file>